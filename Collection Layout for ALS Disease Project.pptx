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9" r:id="rId4"/>
    <p:sldId id="260" r:id="rId5"/>
    <p:sldId id="258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9A9BC-C721-48E7-16E5-62644F183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7AA25-9032-8593-1FD3-7C798E696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49CE9-F114-DD49-1659-297E6449E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0BF0C-CF70-8E30-B58D-F51F83E8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06030-CE36-CC77-5BC6-C6E24EE7B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11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3ECE1-C99D-F5B4-4235-5A1DEE601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DB262-9D0E-AB77-6540-7C1028CD5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C7375-6195-B440-7754-F2AECA87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40C83-BEA9-AB2D-212D-230B9C82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43BD8-7991-FD28-42DC-5079E2E4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04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7F53-7B5A-2F6F-79F0-AB46CF50B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84798-9BE9-169B-235E-093D59D12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50AA8-64FA-DDCA-A339-FDBDF837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5520A-51F6-F994-9B28-D7D09B076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2FB23-6416-64F5-500B-21B5748C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6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D50B-630C-5916-B391-08B726AF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32CA7-2D44-8DB2-1412-B08331507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56079-15BB-0723-7085-3C7393EB8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5B7B8-526B-44E9-4B4C-7C9B664A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89E89-9187-FB90-4E7B-5E25B5C03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155E5-7D0D-2D1C-B4E9-AEACC1B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1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B45A2-2B04-1BA9-3682-1F848786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AAF61-D7BD-D4DB-E800-6BB68B077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3A2D0-1263-6B58-6842-C4AE7D56C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DF5F76-F067-963A-10F5-CE8523B28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BB2A7-512A-8EA2-6310-369C7A9B7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2E4DC8-3CBB-9426-612F-BEBFCC11D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B427E-5AB7-811E-1131-D3D5EB989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C3DB5-CEE0-A326-5966-66149AE4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5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5B379-C212-5230-C593-12EEA032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D3C6BC-2BFC-6E48-A150-563CD3452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9B20-5CC5-A0A9-0969-B3A07D9C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C8D70-0097-E75E-32CA-8DC64FB2F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6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54B79-D769-0760-97BC-2DE7E85E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D69BB4-668E-282B-951C-7DFEDC971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D52B0-DEDD-54BC-2713-BC92C392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48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E8FF-F06C-FD21-1B3A-5A2BE7CCA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A7FE7-4FA1-FA37-CBE7-18AA56469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C00E9-09AE-FE13-693C-ABA01F08B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912D2-CBB0-F240-C580-E519EF22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1C312-97D1-851D-F668-719E83088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D830D-0834-C287-6EFF-31E0F203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7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941E-C9E7-9F42-5B40-E72D6ECEF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D4528A-88C9-9BAE-C5DE-DF631855F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B875D-C467-A833-4408-330741256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CE1B3-8828-A361-FC26-46AA0D43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2FD1B-A337-A9B4-B251-FB83C596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20D82-D36F-EEA8-3328-9531FB6F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2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F9A3-27F5-CE23-E228-3A868FC54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78017-9757-360E-9F38-33E512B3B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495EF-48BE-9512-D833-87965E1E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86FC-AE5C-404B-2821-2DC77646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32458-F384-EACB-2748-F43AAC88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77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4FB15A-FCF1-BBE4-2C4B-D12858D3B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D8265-03E5-A833-62F4-BAF34B775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0B9CD-872A-B823-41A8-AEE2B074D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B4B3F-A143-F101-A107-67C7D0AB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5E3F8-A81A-D525-241A-512C08A3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6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D1B50-81DC-2E5B-CD3E-5D691C5D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B0141-39E2-736F-B026-CE92AC044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BD4B-2349-3517-6BB0-038123A89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8B145-F98B-4C78-AE94-87177324A4E4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BE915-707C-FB9C-1AE2-0E70AB2F0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B7575-E5D2-1779-3298-F5C7ADA88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E5249-AD59-4C2D-BCF9-9169B8AC3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3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5C04-3FB1-C2C8-2498-691097F4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42" y="365125"/>
            <a:ext cx="11131858" cy="1325563"/>
          </a:xfrm>
        </p:spPr>
        <p:txBody>
          <a:bodyPr/>
          <a:lstStyle/>
          <a:p>
            <a:pPr algn="ctr"/>
            <a:r>
              <a:rPr lang="en-US" dirty="0"/>
              <a:t>Embeddings Represent data as a n-Dimensional Vectors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A3304A-23C5-0DF2-F912-BC2B3FD07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6261" t="36259" b="17323"/>
          <a:stretch/>
        </p:blipFill>
        <p:spPr>
          <a:xfrm>
            <a:off x="9857424" y="2761861"/>
            <a:ext cx="2000167" cy="177281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BADFF6-4C21-F588-135D-44703EAB7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56" y="1946307"/>
            <a:ext cx="1868518" cy="13937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651A8C-DDFF-A42F-5E17-EA9E6EBA0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575" y="1946307"/>
            <a:ext cx="1868519" cy="14069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AD8781-7A35-3CD5-C6EC-A2EBED8AFE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38" y="3429000"/>
            <a:ext cx="1857536" cy="1406547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132480B2-51ED-C0AA-C3A7-DDF5AAC5DA78}"/>
              </a:ext>
            </a:extLst>
          </p:cNvPr>
          <p:cNvSpPr/>
          <p:nvPr/>
        </p:nvSpPr>
        <p:spPr>
          <a:xfrm>
            <a:off x="4359534" y="3567781"/>
            <a:ext cx="523782" cy="6254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C4874-2CAA-28BF-2D6C-5D775EF0CE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576" y="3427078"/>
            <a:ext cx="1870932" cy="14065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2285C1-B356-4B57-5CA3-30F1270AD5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56" y="4904552"/>
            <a:ext cx="1868518" cy="14069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03543B-0C34-8A00-EF91-2229400A68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390" y="4907321"/>
            <a:ext cx="1876890" cy="140654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DA2F19-6C63-28C0-C163-BE050007270B}"/>
              </a:ext>
            </a:extLst>
          </p:cNvPr>
          <p:cNvCxnSpPr>
            <a:cxnSpLocks/>
          </p:cNvCxnSpPr>
          <p:nvPr/>
        </p:nvCxnSpPr>
        <p:spPr>
          <a:xfrm flipV="1">
            <a:off x="9962067" y="3515629"/>
            <a:ext cx="1063690" cy="911656"/>
          </a:xfrm>
          <a:prstGeom prst="straightConnector1">
            <a:avLst/>
          </a:prstGeom>
          <a:ln w="41275">
            <a:solidFill>
              <a:schemeClr val="accent4">
                <a:lumMod val="60000"/>
                <a:lumOff val="40000"/>
              </a:schemeClr>
            </a:solidFill>
            <a:headEnd type="none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B9D7C6-0B9F-B2F4-B966-D6CAAF78F634}"/>
              </a:ext>
            </a:extLst>
          </p:cNvPr>
          <p:cNvCxnSpPr>
            <a:cxnSpLocks/>
          </p:cNvCxnSpPr>
          <p:nvPr/>
        </p:nvCxnSpPr>
        <p:spPr>
          <a:xfrm flipV="1">
            <a:off x="9962067" y="3321411"/>
            <a:ext cx="836645" cy="1118236"/>
          </a:xfrm>
          <a:prstGeom prst="straightConnector1">
            <a:avLst/>
          </a:prstGeom>
          <a:ln w="41275">
            <a:solidFill>
              <a:srgbClr val="7030A0"/>
            </a:solidFill>
            <a:headEnd type="none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268548-D579-0EEE-BEDB-2878709D938F}"/>
              </a:ext>
            </a:extLst>
          </p:cNvPr>
          <p:cNvCxnSpPr>
            <a:cxnSpLocks/>
          </p:cNvCxnSpPr>
          <p:nvPr/>
        </p:nvCxnSpPr>
        <p:spPr>
          <a:xfrm flipV="1">
            <a:off x="9962067" y="3805180"/>
            <a:ext cx="1236235" cy="622105"/>
          </a:xfrm>
          <a:prstGeom prst="straightConnector1">
            <a:avLst/>
          </a:prstGeom>
          <a:ln w="41275">
            <a:solidFill>
              <a:srgbClr val="00B0F0"/>
            </a:solidFill>
            <a:headEnd type="none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42F576F-96B8-AD1C-AF3D-3078F2721CF4}"/>
              </a:ext>
            </a:extLst>
          </p:cNvPr>
          <p:cNvSpPr/>
          <p:nvPr/>
        </p:nvSpPr>
        <p:spPr>
          <a:xfrm>
            <a:off x="9089204" y="3520161"/>
            <a:ext cx="523782" cy="6254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" name="Picture 10" descr="How Do Neural Networks Learn?">
            <a:extLst>
              <a:ext uri="{FF2B5EF4-FFF2-40B4-BE49-F238E27FC236}">
                <a16:creationId xmlns:a16="http://schemas.microsoft.com/office/drawing/2014/main" id="{02FE1E08-F97B-37E4-05DA-B4E31A1B9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44" y="2841789"/>
            <a:ext cx="3450770" cy="199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49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2B90D-30D3-3EB9-129D-2342EA74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Resnet 18</a:t>
            </a:r>
          </a:p>
        </p:txBody>
      </p:sp>
      <p:pic>
        <p:nvPicPr>
          <p:cNvPr id="1030" name="Picture 6" descr="Visualization of the modified ResNet-18 model used for predicting ...">
            <a:extLst>
              <a:ext uri="{FF2B5EF4-FFF2-40B4-BE49-F238E27FC236}">
                <a16:creationId xmlns:a16="http://schemas.microsoft.com/office/drawing/2014/main" id="{400E0E55-113C-31CD-4027-452FC512EB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650" y="2171975"/>
            <a:ext cx="6312060" cy="291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FF3D8D9-6168-12C6-8E0D-E98BA0121FD8}"/>
              </a:ext>
            </a:extLst>
          </p:cNvPr>
          <p:cNvSpPr txBox="1"/>
          <p:nvPr/>
        </p:nvSpPr>
        <p:spPr>
          <a:xfrm>
            <a:off x="6096000" y="5541368"/>
            <a:ext cx="1463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/>
              <a:t>Convolutional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/>
              <a:t>Residual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i="1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76414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A40C-90E2-6C1B-0814-339D5F09C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Define Database/Collection Schema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7C13E7-C74D-59C2-0A59-D3424FA88F08}"/>
              </a:ext>
            </a:extLst>
          </p:cNvPr>
          <p:cNvSpPr txBox="1"/>
          <p:nvPr/>
        </p:nvSpPr>
        <p:spPr>
          <a:xfrm>
            <a:off x="4798788" y="2019530"/>
            <a:ext cx="202068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Collection Schema</a:t>
            </a:r>
          </a:p>
          <a:p>
            <a:pPr algn="ctr"/>
            <a:r>
              <a:rPr lang="en-US" dirty="0"/>
              <a:t>(name, description)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A62434-3583-D119-FC15-53CD45A9F806}"/>
              </a:ext>
            </a:extLst>
          </p:cNvPr>
          <p:cNvSpPr txBox="1"/>
          <p:nvPr/>
        </p:nvSpPr>
        <p:spPr>
          <a:xfrm>
            <a:off x="838200" y="5141683"/>
            <a:ext cx="197842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Field Schema 1</a:t>
            </a:r>
          </a:p>
          <a:p>
            <a:pPr algn="ctr"/>
            <a:r>
              <a:rPr lang="en-US" dirty="0"/>
              <a:t>(name, </a:t>
            </a:r>
            <a:r>
              <a:rPr lang="en-US" dirty="0" err="1"/>
              <a:t>dtype</a:t>
            </a:r>
            <a:r>
              <a:rPr lang="en-US" dirty="0"/>
              <a:t>, dim)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9EDA8-24D9-6227-114B-2453549B92A0}"/>
              </a:ext>
            </a:extLst>
          </p:cNvPr>
          <p:cNvSpPr txBox="1"/>
          <p:nvPr/>
        </p:nvSpPr>
        <p:spPr>
          <a:xfrm>
            <a:off x="3450475" y="5133172"/>
            <a:ext cx="197842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Field Schema 1</a:t>
            </a:r>
          </a:p>
          <a:p>
            <a:pPr algn="ctr"/>
            <a:r>
              <a:rPr lang="en-US" dirty="0"/>
              <a:t>(name, </a:t>
            </a:r>
            <a:r>
              <a:rPr lang="en-US" dirty="0" err="1"/>
              <a:t>dtype</a:t>
            </a:r>
            <a:r>
              <a:rPr lang="en-US" dirty="0"/>
              <a:t>, dim)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6C1C96-1190-95F8-5E58-267E24A50C28}"/>
              </a:ext>
            </a:extLst>
          </p:cNvPr>
          <p:cNvSpPr txBox="1"/>
          <p:nvPr/>
        </p:nvSpPr>
        <p:spPr>
          <a:xfrm>
            <a:off x="5830257" y="5133171"/>
            <a:ext cx="197842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Field Schema 1</a:t>
            </a:r>
          </a:p>
          <a:p>
            <a:pPr algn="ctr"/>
            <a:r>
              <a:rPr lang="en-US" dirty="0"/>
              <a:t>(name, </a:t>
            </a:r>
            <a:r>
              <a:rPr lang="en-US" dirty="0" err="1"/>
              <a:t>dtype</a:t>
            </a:r>
            <a:r>
              <a:rPr lang="en-US" dirty="0"/>
              <a:t>, dim)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1C0FB1-B94A-FB9A-9614-90103777B10E}"/>
              </a:ext>
            </a:extLst>
          </p:cNvPr>
          <p:cNvSpPr txBox="1"/>
          <p:nvPr/>
        </p:nvSpPr>
        <p:spPr>
          <a:xfrm>
            <a:off x="8422725" y="5141683"/>
            <a:ext cx="197842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Field Schema 1</a:t>
            </a:r>
          </a:p>
          <a:p>
            <a:pPr algn="ctr"/>
            <a:r>
              <a:rPr lang="en-US" dirty="0"/>
              <a:t>(name, </a:t>
            </a:r>
            <a:r>
              <a:rPr lang="en-US" dirty="0" err="1"/>
              <a:t>dtype</a:t>
            </a:r>
            <a:r>
              <a:rPr lang="en-US" dirty="0"/>
              <a:t>, dim)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9B9C8D-5A9F-97F0-51A5-1318BD2602B6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827414" y="2665861"/>
            <a:ext cx="3981715" cy="2475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7C8248-CE32-00B3-D48B-6DDE051DF538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4439689" y="2665861"/>
            <a:ext cx="1369440" cy="2467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EDEB461-DAE1-D1C7-A8AF-040451D4CF8D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5809129" y="2665861"/>
            <a:ext cx="1010342" cy="2467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D7DF87F-820E-2C10-2E97-46EBF065B202}"/>
              </a:ext>
            </a:extLst>
          </p:cNvPr>
          <p:cNvCxnSpPr>
            <a:cxnSpLocks/>
            <a:stCxn id="13" idx="2"/>
            <a:endCxn id="17" idx="0"/>
          </p:cNvCxnSpPr>
          <p:nvPr/>
        </p:nvCxnSpPr>
        <p:spPr>
          <a:xfrm>
            <a:off x="5809129" y="2665861"/>
            <a:ext cx="3602810" cy="2475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34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A40C-90E2-6C1B-0814-339D5F09C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Collection = Table | Fields = Columns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7077E4-EC2A-2F28-2C8F-BBA05343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213932"/>
              </p:ext>
            </p:extLst>
          </p:nvPr>
        </p:nvGraphicFramePr>
        <p:xfrm>
          <a:off x="1308589" y="2633521"/>
          <a:ext cx="8924777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893">
                  <a:extLst>
                    <a:ext uri="{9D8B030D-6E8A-4147-A177-3AD203B41FA5}">
                      <a16:colId xmlns:a16="http://schemas.microsoft.com/office/drawing/2014/main" val="3686216894"/>
                    </a:ext>
                  </a:extLst>
                </a:gridCol>
                <a:gridCol w="2514352">
                  <a:extLst>
                    <a:ext uri="{9D8B030D-6E8A-4147-A177-3AD203B41FA5}">
                      <a16:colId xmlns:a16="http://schemas.microsoft.com/office/drawing/2014/main" val="4230058780"/>
                    </a:ext>
                  </a:extLst>
                </a:gridCol>
                <a:gridCol w="1549648">
                  <a:extLst>
                    <a:ext uri="{9D8B030D-6E8A-4147-A177-3AD203B41FA5}">
                      <a16:colId xmlns:a16="http://schemas.microsoft.com/office/drawing/2014/main" val="3779060196"/>
                    </a:ext>
                  </a:extLst>
                </a:gridCol>
                <a:gridCol w="2820884">
                  <a:extLst>
                    <a:ext uri="{9D8B030D-6E8A-4147-A177-3AD203B41FA5}">
                      <a16:colId xmlns:a16="http://schemas.microsoft.com/office/drawing/2014/main" val="38407098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Image_Name</a:t>
                      </a:r>
                      <a:endParaRPr lang="en-US" sz="1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Image_id</a:t>
                      </a:r>
                      <a:endParaRPr lang="en-US" sz="1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Image_date</a:t>
                      </a:r>
                      <a:endParaRPr lang="en-US" sz="1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Image_vector</a:t>
                      </a:r>
                      <a:endParaRPr lang="en-US" sz="10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74200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Heterogeneity-of-TDP-43-inclusion-pathology-A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20240715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[-0.6458381414413452, 0.38823872804641724, 0.7556256651878357, ……… ]</a:t>
                      </a:r>
                      <a:endParaRPr lang="en-US" sz="10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355660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Heterogeneity-of-TDP-43-inclusion-pathology-B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20240715</a:t>
                      </a:r>
                    </a:p>
                    <a:p>
                      <a:pPr algn="ctr"/>
                      <a:endParaRPr lang="en-US" sz="1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[-0.1493655890226364, 0.9747080206871033, 1.119510293006897, ……… ]</a:t>
                      </a:r>
                      <a:endParaRPr lang="en-US" sz="10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68057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Heterogeneity-of-TDP-43-inclusion-pathology-C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20240715</a:t>
                      </a:r>
                    </a:p>
                    <a:p>
                      <a:pPr algn="ctr"/>
                      <a:endParaRPr lang="en-US" sz="1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[0.166558176279068, 1.6846414804458618, 1.1219409704208374, ……… ]</a:t>
                      </a:r>
                      <a:endParaRPr lang="en-US" sz="10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63165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Heterogeneity-of-TDP-43-inclusion-pathology-D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20240715</a:t>
                      </a:r>
                    </a:p>
                    <a:p>
                      <a:pPr algn="ctr"/>
                      <a:endParaRPr lang="en-US" sz="1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[-0.8779816031455994, 0.6956443786621094, 1.0266568660736084, ……… ]</a:t>
                      </a:r>
                      <a:endParaRPr lang="en-US" sz="10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096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Heterogeneity-of-TDP-43-inclusion-pathology-E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20240715</a:t>
                      </a:r>
                    </a:p>
                    <a:p>
                      <a:pPr algn="ctr"/>
                      <a:endParaRPr lang="en-US" sz="1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[-0.6858570575714111, 1.3880631923675537, 1.2627187967300415, ……… ]</a:t>
                      </a:r>
                      <a:endParaRPr lang="en-US" sz="10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1538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Heterogeneity-of-TDP-43-inclusion-pathology-F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20240715</a:t>
                      </a:r>
                    </a:p>
                    <a:p>
                      <a:pPr algn="ctr"/>
                      <a:endParaRPr lang="en-US" sz="1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[-0.2884347438812256, 0.9208322167396545, 1.0908784866333008, ……… ]</a:t>
                      </a:r>
                      <a:endParaRPr lang="en-US" sz="1000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5757045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C0D4F44-1AC9-792B-037F-4BBE1C7C5282}"/>
              </a:ext>
            </a:extLst>
          </p:cNvPr>
          <p:cNvSpPr txBox="1"/>
          <p:nvPr/>
        </p:nvSpPr>
        <p:spPr>
          <a:xfrm>
            <a:off x="3841935" y="1773446"/>
            <a:ext cx="3897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Collection_1</a:t>
            </a:r>
          </a:p>
          <a:p>
            <a:pPr algn="ctr"/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COHORT 1 : ALS IMAGES</a:t>
            </a:r>
          </a:p>
        </p:txBody>
      </p:sp>
    </p:spTree>
    <p:extLst>
      <p:ext uri="{BB962C8B-B14F-4D97-AF65-F5344CB8AC3E}">
        <p14:creationId xmlns:p14="http://schemas.microsoft.com/office/powerpoint/2010/main" val="281012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D26E-4529-42F7-C69B-53DB1C4A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Image Vectors are so long indexing them makes cataloging more efficient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1A710-332D-8B70-B397-C8057AD3E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946" r="3290"/>
          <a:stretch/>
        </p:blipFill>
        <p:spPr>
          <a:xfrm>
            <a:off x="3537524" y="2183907"/>
            <a:ext cx="4399113" cy="3744482"/>
          </a:xfrm>
        </p:spPr>
      </p:pic>
    </p:spTree>
    <p:extLst>
      <p:ext uri="{BB962C8B-B14F-4D97-AF65-F5344CB8AC3E}">
        <p14:creationId xmlns:p14="http://schemas.microsoft.com/office/powerpoint/2010/main" val="402278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E57CE-1131-0332-FE53-95680EE2F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3 are most like the Query….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3FC35-648F-D26E-1FB1-478490C71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878" y="3255167"/>
            <a:ext cx="1868518" cy="13937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70876E-8CEC-2AA2-93C7-2AEB3CF5E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025" y="2551698"/>
            <a:ext cx="1868519" cy="140693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EBE805-0A3F-C361-7B70-CADBA776D8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733" y="2552088"/>
            <a:ext cx="1857536" cy="140654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2018B0-FAF5-634C-DF1F-5E31B420F3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672" y="2545502"/>
            <a:ext cx="1870932" cy="1406548"/>
          </a:xfrm>
          <a:prstGeom prst="rect">
            <a:avLst/>
          </a:prstGeom>
          <a:ln w="34925">
            <a:solidFill>
              <a:srgbClr val="00B05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597395-D27C-3BA6-FDE4-CEBDBF7852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608" y="4116761"/>
            <a:ext cx="1868518" cy="1406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2FAB5C-EBDB-9BDC-B630-37F7C172AB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09" y="4116761"/>
            <a:ext cx="1876890" cy="1406548"/>
          </a:xfrm>
          <a:prstGeom prst="rect">
            <a:avLst/>
          </a:prstGeom>
          <a:ln w="34925"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BC8055-583C-DD00-9DB4-DD9AA2346858}"/>
              </a:ext>
            </a:extLst>
          </p:cNvPr>
          <p:cNvSpPr txBox="1"/>
          <p:nvPr/>
        </p:nvSpPr>
        <p:spPr>
          <a:xfrm>
            <a:off x="901666" y="5824125"/>
            <a:ext cx="102311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id: 2, distance: 0.000, entity: {'</a:t>
            </a:r>
            <a:r>
              <a:rPr lang="en-US" sz="10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Image_Name</a:t>
            </a:r>
            <a:r>
              <a:rPr lang="en-US"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': 'Heterogeneity-of-TDP-43-inclusion-pathology-B.jpeg', '</a:t>
            </a:r>
            <a:r>
              <a:rPr lang="en-US" sz="10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Image_Date</a:t>
            </a:r>
            <a:r>
              <a:rPr lang="en-US"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': '20240714’} </a:t>
            </a:r>
          </a:p>
          <a:p>
            <a:r>
              <a:rPr lang="en-US"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id: 4, distance: 204.0, entity: {'</a:t>
            </a:r>
            <a:r>
              <a:rPr lang="en-US" sz="10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Image_Name</a:t>
            </a:r>
            <a:r>
              <a:rPr lang="en-US"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': 'Heterogeneity-of-TDP-43-inclusion-pathology-D.jpeg', '</a:t>
            </a:r>
            <a:r>
              <a:rPr lang="en-US" sz="10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Image_Date</a:t>
            </a:r>
            <a:r>
              <a:rPr lang="en-US"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': '20240714’}</a:t>
            </a:r>
          </a:p>
          <a:p>
            <a:r>
              <a:rPr lang="en-US"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id: 3, distance: 242.4, entity: {'</a:t>
            </a:r>
            <a:r>
              <a:rPr lang="en-US" sz="10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Image_Name</a:t>
            </a:r>
            <a:r>
              <a:rPr lang="en-US"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': 'Heterogeneity-of-TDP-43-inclusion-pathology-C.jpeg', '</a:t>
            </a:r>
            <a:r>
              <a:rPr lang="en-US" sz="10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Image_Date</a:t>
            </a:r>
            <a:r>
              <a:rPr lang="en-US"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': '20240714'}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98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85BEA-2D49-925E-EBA9-12E28005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C060B-1F63-3489-C6D5-24A3C781A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5" y="2141537"/>
            <a:ext cx="10515600" cy="4351338"/>
          </a:xfrm>
        </p:spPr>
        <p:txBody>
          <a:bodyPr/>
          <a:lstStyle/>
          <a:p>
            <a:pPr>
              <a:buClr>
                <a:schemeClr val="accent1">
                  <a:lumMod val="60000"/>
                  <a:lumOff val="40000"/>
                </a:schemeClr>
              </a:buClr>
              <a:buSzPct val="107000"/>
            </a:pPr>
            <a:r>
              <a:rPr lang="en-US" dirty="0"/>
              <a:t>Add more images 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07000"/>
            </a:pPr>
            <a:r>
              <a:rPr lang="en-US" dirty="0"/>
              <a:t>Add metric for accuracy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07000"/>
            </a:pPr>
            <a:r>
              <a:rPr lang="en-US" dirty="0"/>
              <a:t>Use RAG to improve Accuracy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07000"/>
            </a:pPr>
            <a:r>
              <a:rPr lang="en-US" dirty="0"/>
              <a:t>Use other models and compare to resnet18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  <a:buSzPct val="107000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078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280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Embeddings Represent data as a n-Dimensional Vectors</vt:lpstr>
      <vt:lpstr>Resnet 18</vt:lpstr>
      <vt:lpstr>Define Database/Collection Schema</vt:lpstr>
      <vt:lpstr>Collection = Table | Fields = Columns</vt:lpstr>
      <vt:lpstr>Image Vectors are so long indexing them makes cataloging more efficient</vt:lpstr>
      <vt:lpstr>Which 3 are most like the Query….</vt:lpstr>
      <vt:lpstr>Next steps….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Jabbar Campbell</dc:creator>
  <cp:lastModifiedBy>Jabbar Campbell</cp:lastModifiedBy>
  <cp:revision>9</cp:revision>
  <dcterms:created xsi:type="dcterms:W3CDTF">2024-07-25T13:48:48Z</dcterms:created>
  <dcterms:modified xsi:type="dcterms:W3CDTF">2024-08-14T20:06:06Z</dcterms:modified>
</cp:coreProperties>
</file>